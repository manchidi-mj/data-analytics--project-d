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2C6E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University of Eastern Finland</c:v>
                  </c:pt>
                  <c:pt idx="1">
                    <c:v>CNRS</c:v>
                  </c:pt>
                  <c:pt idx="2">
                    <c:v>University of Bonn</c:v>
                  </c:pt>
                  <c:pt idx="3">
                    <c:v>Leibniz Univ. Hannover</c:v>
                  </c:pt>
                  <c:pt idx="4">
                    <c:v>TU Munich</c:v>
                  </c:pt>
                  <c:pt idx="5">
                    <c:v>University of Oulu</c:v>
                  </c:pt>
                  <c:pt idx="6">
                    <c:v>LMU Munich</c:v>
                  </c:pt>
                  <c:pt idx="7">
                    <c:v>Univ. College Dublin</c:v>
                  </c:pt>
                  <c:pt idx="8">
                    <c:v>Univ. de Salamanca</c:v>
                  </c:pt>
                  <c:pt idx="9">
                    <c:v>Bucharest UES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</c:v>
                </c:pt>
                <c:pt idx="1">
                  <c:v>93</c:v>
                </c:pt>
                <c:pt idx="2">
                  <c:v>86</c:v>
                </c:pt>
                <c:pt idx="3">
                  <c:v>80</c:v>
                </c:pt>
                <c:pt idx="4">
                  <c:v>78</c:v>
                </c:pt>
                <c:pt idx="5">
                  <c:v>74</c:v>
                </c:pt>
                <c:pt idx="6">
                  <c:v>71</c:v>
                </c:pt>
                <c:pt idx="7">
                  <c:v>67</c:v>
                </c:pt>
                <c:pt idx="8">
                  <c:v>66</c:v>
                </c:pt>
                <c:pt idx="9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2C6E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Germany</c:v>
                  </c:pt>
                  <c:pt idx="1">
                    <c:v>Spain</c:v>
                  </c:pt>
                  <c:pt idx="2">
                    <c:v>Italy</c:v>
                  </c:pt>
                  <c:pt idx="3">
                    <c:v>France</c:v>
                  </c:pt>
                  <c:pt idx="4">
                    <c:v>Greece</c:v>
                  </c:pt>
                  <c:pt idx="5">
                    <c:v>Netherlands</c:v>
                  </c:pt>
                  <c:pt idx="6">
                    <c:v>Finland</c:v>
                  </c:pt>
                  <c:pt idx="7">
                    <c:v>Sweden</c:v>
                  </c:pt>
                  <c:pt idx="8">
                    <c:v>Portugal</c:v>
                  </c:pt>
                  <c:pt idx="9">
                    <c:v>Romania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1382</c:v>
                </c:pt>
                <c:pt idx="1">
                  <c:v>1137</c:v>
                </c:pt>
                <c:pt idx="2">
                  <c:v>908</c:v>
                </c:pt>
                <c:pt idx="3">
                  <c:v>560</c:v>
                </c:pt>
                <c:pt idx="4">
                  <c:v>481</c:v>
                </c:pt>
                <c:pt idx="5">
                  <c:v>473</c:v>
                </c:pt>
                <c:pt idx="6">
                  <c:v>418</c:v>
                </c:pt>
                <c:pt idx="7">
                  <c:v>405</c:v>
                </c:pt>
                <c:pt idx="8">
                  <c:v>365</c:v>
                </c:pt>
                <c:pt idx="9">
                  <c:v>342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2C6E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Education Sciences</c:v>
                  </c:pt>
                  <c:pt idx="1">
                    <c:v>Frontiers in Education</c:v>
                  </c:pt>
                  <c:pt idx="2">
                    <c:v>Applied Sciences</c:v>
                  </c:pt>
                  <c:pt idx="3">
                    <c:v>IEEE Access</c:v>
                  </c:pt>
                  <c:pt idx="4">
                    <c:v>Sustainability</c:v>
                  </c:pt>
                  <c:pt idx="5">
                    <c:v>Computers and Education Artificial Intelligence</c:v>
                  </c:pt>
                  <c:pt idx="6">
                    <c:v>Alzheimer's &amp; Dementia</c:v>
                  </c:pt>
                  <c:pt idx="7">
                    <c:v>Scientific Reports</c:v>
                  </c:pt>
                  <c:pt idx="8">
                    <c:v>Information</c:v>
                  </c:pt>
                  <c:pt idx="9">
                    <c:v>Education and Information Technologies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84</c:v>
                </c:pt>
                <c:pt idx="1">
                  <c:v>75</c:v>
                </c:pt>
                <c:pt idx="2">
                  <c:v>68</c:v>
                </c:pt>
                <c:pt idx="3">
                  <c:v>48</c:v>
                </c:pt>
                <c:pt idx="4">
                  <c:v>47</c:v>
                </c:pt>
                <c:pt idx="5">
                  <c:v>45</c:v>
                </c:pt>
                <c:pt idx="6">
                  <c:v>43</c:v>
                </c:pt>
                <c:pt idx="7">
                  <c:v>40</c:v>
                </c:pt>
                <c:pt idx="8">
                  <c:v>37</c:v>
                </c:pt>
                <c:pt idx="9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candidates</c:v>
                </c:pt>
              </c:strCache>
            </c:strRef>
          </c:tx>
          <c:spPr>
            <a:solidFill>
              <a:srgbClr val="2C6E63"/>
            </a:solidFill>
            <a:ln w="38100" cap="flat">
              <a:solidFill>
                <a:srgbClr val="2C6E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C6E63"/>
              </a:solidFill>
              <a:ln w="9525" cap="flat">
                <a:solidFill>
                  <a:srgbClr val="2C6E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329</c:v>
                </c:pt>
                <c:pt idx="1">
                  <c:v>369</c:v>
                </c:pt>
                <c:pt idx="2">
                  <c:v>420</c:v>
                </c:pt>
                <c:pt idx="3">
                  <c:v>725</c:v>
                </c:pt>
                <c:pt idx="4">
                  <c:v>1308</c:v>
                </c:pt>
                <c:pt idx="5">
                  <c:v>2062</c:v>
                </c:pt>
                <c:pt idx="6">
                  <c:v>2381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STRICT (provisional)</c:v>
                </c:pt>
              </c:strCache>
            </c:strRef>
          </c:tx>
          <c:spPr>
            <a:solidFill>
              <a:srgbClr val="D1603D"/>
            </a:solidFill>
            <a:ln w="38100" cap="flat">
              <a:solidFill>
                <a:srgbClr val="D160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1603D"/>
              </a:solidFill>
              <a:ln w="9525" cap="flat">
                <a:solidFill>
                  <a:srgbClr val="D160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139</c:v>
                </c:pt>
                <c:pt idx="1">
                  <c:v>207</c:v>
                </c:pt>
                <c:pt idx="2">
                  <c:v>236</c:v>
                </c:pt>
                <c:pt idx="3">
                  <c:v>365</c:v>
                </c:pt>
                <c:pt idx="4">
                  <c:v>633</c:v>
                </c:pt>
                <c:pt idx="5">
                  <c:v>992</c:v>
                </c:pt>
                <c:pt idx="6">
                  <c:v>1096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E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A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kept (%)</c:v>
                </c:pt>
              </c:strCache>
            </c:strRef>
          </c:tx>
          <c:spPr>
            <a:solidFill>
              <a:srgbClr val="D160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42.2</c:v>
                </c:pt>
                <c:pt idx="1">
                  <c:v>56.1</c:v>
                </c:pt>
                <c:pt idx="2">
                  <c:v>56.2</c:v>
                </c:pt>
                <c:pt idx="3">
                  <c:v>50.3</c:v>
                </c:pt>
                <c:pt idx="4">
                  <c:v>48.4</c:v>
                </c:pt>
                <c:pt idx="5">
                  <c:v>48.1</c:v>
                </c:pt>
                <c:pt idx="6">
                  <c:v>46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7,594 EU-affiliated candidates from five OpenAlex queries after deduplication (75,126 collected, 67,684 unique). STRICT is provisional until the Scopus rules are agreed.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papers per institution (each paper counted once per institution). Output is skewed: median institution has 2 papers; only 361 of 2,489 have 10 or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counting: country counts sum to 9,050, more than the 7,594 papers, because multi-country papers count once per country. Top three countries appear on about 45% of papers (overlapping).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Venue names exist only in the STRICT file, so this covers 3,668 records and 1,402 venues. The two biggest 'venues' are Springer proceedings book series; this chart shows journals only. Alzheimer's &amp; Dementia (43) signals off-topic records from the broad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rose from 329 (2020) to 2,062 (2025). Biggest jumps: 2023 (+73%) and 2024 (+80%). This coincides with generative AI tools; counts cannot show causation. 2026 is a partial year and already exceeds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 = 3,668 of 7,594 (48.3%). Yearly share falls from about 56% in 2021-2022 to 46% in 2026. A possible reason is newer venues missing from the provisional Scopus list; the data cannot confirm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Sensitivity check: rankings recomputed using only papers flagged 'Likely relevant' by the keyword screen (6,442 of 7,594). Eastern Finland stays first; CNRS drops from 2nd to 5th; Salamanca leaves the top 10 and L3S enters. The keyword screen is weak (Alzheimer's &amp; Dementia records are flagged likely relevant).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AI-in-education research in Europe?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analysis: RQ1 institutions, countries, venues  |  RQ2 trends and Scopus filtering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data, EU-affiliated papers, 2020 to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team roles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7,594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4185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candidate papers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8328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16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3,668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4185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STRICT papers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2,489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4185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institutions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5256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8116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24185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countries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97764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processing, API pipeline, cleaning, README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Charan: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 (RQ1, RQ2), slides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Mabango: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validation, capture metrics, limitations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Keerthana: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networks, community detection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clustering, interpretation, method evaluation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Eastern Finland and CNRS lead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412480" y="155448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51002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at the leader, University of Eastern Finland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412480" y="35661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41080" y="3749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16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8641080" y="452170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papers per institution; only 361 of 2,489 reach 10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5577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Candidate-paper counts, not yet fully validated for relevance.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Germany, Spain and Italy lead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412480" y="155448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51002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papers involve Germany, Spain or Italy (counts overlap)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3657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counting: a paper with authors in two countries counts for both, so country totals (9,050) exceed the 7,594 papers.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is spread across many venues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412480" y="155448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51002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STRICT records sit in the top 10 of 1,402 venues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3566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series lead overall: Communications in Computer and Information Science (155) and Lecture Notes in Networks and Systems (136).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6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&amp; Dementia (43) suggests off-topic records.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grew more than sixfold since 2020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412480" y="155448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+80%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51002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2024, the sharpest year (+73% in 2023)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3566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is a partial year, yet already above 2025 (2,381 vs 2,062). The rise coincides with generative AI tools; counts cannot show cause.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keeps about 48% of records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412480" y="155448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EAF1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16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48.3%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51002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records kept in STRICT overall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3566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falls from about 56% (2021-2022) to 46% (2026). STRICT follows the same growth shape, so filtering mainly changes volume.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ranks mostly survive relevance filtering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931920"/>
                <a:gridCol w="1188720"/>
                <a:gridCol w="42062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candidates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relevant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Eastern Finland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Eastern Finland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Bonn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Bonn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Leibniz Univ. Hannover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Leibniz Univ. Hannover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Munich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Munich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Oulu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Oulu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LMU Munich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L3S Research Center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College Dublin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LMU Munich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screen is weak: it flags Alzheimer's &amp; Dementia records as likely relevant, so manual validation is still needed.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and limitations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Germany, Spain and Italy lead by country; Eastern Finland and CNRS by institution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skewed: median institution has 2 papers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grew more than sixfold, 2020 to 2025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keeps about 48%, with the same trend shape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A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is a partial year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rules are provisional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screening is keyword-based; manual audit incomplete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counts overlap (full counting)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results cover only the STRICT subset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D: RQ1 and RQ2</dc:title>
  <dc:subject>PptxGenJS Presentation</dc:subject>
  <dc:creator>PptxGenJS</dc:creator>
  <cp:lastModifiedBy>PptxGenJS</cp:lastModifiedBy>
  <cp:revision>1</cp:revision>
  <dcterms:created xsi:type="dcterms:W3CDTF">2026-10-27T10:40:42Z</dcterms:created>
  <dcterms:modified xsi:type="dcterms:W3CDTF">2026-10-27T10:40:42Z</dcterms:modified>
</cp:coreProperties>
</file>